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02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94960" y="0"/>
            <a:ext cx="13716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0" y="5486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CALLING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371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predictive targeting increased bank campaign profit by 11% —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cutting call volume by 44%.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251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Majeed·  Portuguese Bank Telemarketing Dataset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2834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60720" y="3154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$99,740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072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60720" y="3721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1,523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760720" y="4087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made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42885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760720" y="4654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18688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9601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56032" y="2148840"/>
            <a:ext cx="822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6032" y="23042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Bank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Telemarketing Campaign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09067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30906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41,188 customer records (raw)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7413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" y="3374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~5,466 after cleaning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65760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2920" y="36576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input variables per customer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941064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2920" y="3941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subscribed yes/no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224528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2920" y="4224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$200 per subscription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507992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2920" y="45079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$20 per call made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3566160" y="3840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Variables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3566160" y="804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row contains — one customer, one contact attempt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3474720" y="118872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5"/>
          <p:cNvSpPr/>
          <p:nvPr/>
        </p:nvSpPr>
        <p:spPr>
          <a:xfrm>
            <a:off x="3474720" y="118872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6"/>
          <p:cNvSpPr/>
          <p:nvPr/>
        </p:nvSpPr>
        <p:spPr>
          <a:xfrm>
            <a:off x="3611880" y="12618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3611880" y="1508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job, marital, education, housing, loan, default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3474720" y="192024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3474720" y="192024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361188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3611880" y="2240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type, month, day of week, previous contacts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3474720" y="265176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3474720" y="265176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3611880" y="27249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3611880" y="2971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emp.var.rate, cons.price.idx, cons.conf.idx, euribor3m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3474720" y="338328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3474720" y="338328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3611880" y="3456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3611880" y="37033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pdays (days since last contact), poutcome (prior result)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474720" y="4114800"/>
            <a:ext cx="534924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3474720" y="411480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3611880" y="4187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✦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3611880" y="44348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Did the customer subscribe? (yes / no)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&amp;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0624" y="4160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assumed before building — and how we built it.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206240" cy="6583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207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economics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527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revenue per sub, $20 cost per call — constant, no exceptions.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206240" cy="6583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outcome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subscribes or doesn't. No partial conversions modelled.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4206240" cy="6583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651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Log-odds linearity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assumes a linear relationship in log-odds space.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4206240" cy="6583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383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Cleaned sample representative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illiterate, defaulted &amp; unknown-status records leaves a reliable population.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4206240" cy="6583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114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 random split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453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with fixed seed (random_state=1) for reproducibility.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FLOW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1143000"/>
            <a:ext cx="40233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228600" cy="2286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257800" y="12070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 Profit Cutoff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257800" y="1453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p* = 0.10 from cost/revenue before any modelling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00600" y="1764792"/>
            <a:ext cx="402336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01952"/>
            <a:ext cx="228600" cy="2286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25780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Data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257800" y="2075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records — illiterate, defaulted, unknowns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800600" y="2386584"/>
            <a:ext cx="402336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23744"/>
            <a:ext cx="228600" cy="22860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257800" y="24505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&amp; Split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257800" y="2697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categoricals · 50/50 train-test split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800600" y="3008376"/>
            <a:ext cx="402336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45536"/>
            <a:ext cx="228600" cy="2286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257800" y="3072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5257800" y="3319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on training set · extract significant variables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4800600" y="3630168"/>
            <a:ext cx="40233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767328"/>
            <a:ext cx="228600" cy="22860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257800" y="36941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Model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5257800" y="39410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specificity, precision, F1, confusion matrix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4800600" y="4251960"/>
            <a:ext cx="40233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389120"/>
            <a:ext cx="228600" cy="22860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5257800" y="43159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Profit</a:t>
            </a:r>
            <a:endParaRPr lang="en-US" sz="1000" dirty="0"/>
          </a:p>
        </p:txBody>
      </p:sp>
      <p:sp>
        <p:nvSpPr>
          <p:cNvPr id="56" name="Text 48"/>
          <p:cNvSpPr/>
          <p:nvPr/>
        </p:nvSpPr>
        <p:spPr>
          <a:xfrm>
            <a:off x="5257800" y="4562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vs. mass calling — quantify the business gain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Rule: When Is It Worth Calling?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0233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derived the optimal cutoff mathematically before touching the model.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749808"/>
            <a:ext cx="2926080" cy="4023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749808"/>
            <a:ext cx="2926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914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12344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E[Profit | call]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$200p − $20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22402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E[Profit | no call]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$0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2999232"/>
            <a:ext cx="25603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when: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40156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&gt; 20/200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0.10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0292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cutoff: 10%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749808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795528"/>
            <a:ext cx="521208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Subscription? — Most Influential Variables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2062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training set — variables significant at 5% confidence, ranked by effect size.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804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INCREASES SUBSCRIPTION LIKELIHOOD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754880" y="804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DECREASES SUBSCRIPTION LIKELIHOOD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1115568"/>
            <a:ext cx="416052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115568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</a:rPr>
              <a:t>▲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1207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cons.price.idx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15910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consumer price index = more economic confidence = more savings appetite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350008"/>
            <a:ext cx="416052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2350008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</a:rPr>
              <a:t>▲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4400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poutcome_success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282549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said yes in a previous campaign, they're far more likely to say yes again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3584448"/>
            <a:ext cx="416052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3584448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</a:rPr>
              <a:t>▲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4400" y="3675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405993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are slightly more inclined to open a term deposit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1115568"/>
            <a:ext cx="406908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54880" y="1115568"/>
            <a:ext cx="54864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920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5042"/>
                </a:solidFill>
              </a:rPr>
              <a:t>▼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85232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emp.var.rate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92040" y="159105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employment variation signals economic uncertainty — people avoid locking up savings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2350008"/>
            <a:ext cx="406908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54880" y="2350008"/>
            <a:ext cx="54864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5042"/>
                </a:solidFill>
              </a:rPr>
              <a:t>▼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285232" y="2441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pdays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892040" y="28254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since last contact, the colder the lead — recency matters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54880" y="3584448"/>
            <a:ext cx="406908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754880" y="3584448"/>
            <a:ext cx="54864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920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5042"/>
                </a:solidFill>
              </a:rPr>
              <a:t>▼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5285232" y="3675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euribor3m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892040" y="405993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interest rates elsewhere reduce relative appeal of the bank's term deposit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— How Well Does It Classify?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11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assessed at p* = 0.10 on both training and test sets.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749808"/>
            <a:ext cx="4297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768096"/>
            <a:ext cx="4261104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3218688"/>
            <a:ext cx="4297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29" y="3191256"/>
            <a:ext cx="4387923" cy="158191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892040" y="749808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4892040" y="749808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029200" y="795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5989320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/ Recall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29200" y="127101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who WOULD subscribe, we correctly identified 90% and called them.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892040" y="1801368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892040" y="1801368"/>
            <a:ext cx="54864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029200" y="1847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5989320" y="1892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029200" y="23225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who would NOT subscribe, we correctly skipped 57%. Some unnecessary calls remain — by design.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892040" y="2852928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92040" y="2852928"/>
            <a:ext cx="54864" cy="960120"/>
          </a:xfrm>
          <a:prstGeom prst="rect">
            <a:avLst/>
          </a:prstGeom>
          <a:solidFill>
            <a:srgbClr val="3D4F6B"/>
          </a:solidFill>
          <a:ln w="1270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029200" y="2898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5989320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29200" y="337413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we chose to call, 43% actually subscribed. Low but economically rational given the 10× revenue/cost ratio.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892040" y="3904488"/>
            <a:ext cx="393192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892040" y="3904488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02920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tradeoff?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029200" y="44256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cutoff (10%) is intentionally low. Missing a subscriber costs $200. Making an unnecessary call costs only $20. Sensitivity wins.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Curve — Is the Model Better Than Guessing?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251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overall discrimination ability across all possible cutoffs — not just at p* = 0.10.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749808"/>
            <a:ext cx="5303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795528"/>
            <a:ext cx="5212080" cy="38587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97880" y="749808"/>
            <a:ext cx="29260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897880" y="749808"/>
            <a:ext cx="54864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35040" y="795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178040" y="841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Score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035040" y="12527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Curve — ranges from 0.5 (random) to 1.0 (perfect). Our model at 0.74 is meaningfully better than chance.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897880" y="1773936"/>
            <a:ext cx="29260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897880" y="1773936"/>
            <a:ext cx="54864" cy="932688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035040" y="18196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178040" y="1865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baseline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35040" y="22768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randomly assigns probabilities would follow the diagonal dashed line — AUC = 0.50. Ours is well above it.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897880" y="2798064"/>
            <a:ext cx="29260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897880" y="2798064"/>
            <a:ext cx="54864" cy="9326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035040" y="28437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p*=0.10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178040" y="28895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operating point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0" y="33009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dot marks where we operate: 90% sensitivity, 57% specificity. We chose this point based on the profit rule, not the curve.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897880" y="3822192"/>
            <a:ext cx="2926080" cy="932688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897880" y="3822192"/>
            <a:ext cx="54864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035040" y="3877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AUC matters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035040" y="4325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is threshold-independent. It proves the model has genuine predictive skill — regardless of which cutoff you choose. This is your credibility check.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Case — Targeted vs. Mass Calling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11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activity. Smarter allocation. Better outcome.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749808"/>
            <a:ext cx="5303520" cy="3977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795528"/>
            <a:ext cx="5212080" cy="3840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97880" y="749808"/>
            <a:ext cx="29260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0" y="804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49440" y="804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772400" y="804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458200" y="804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897880" y="1170432"/>
            <a:ext cx="292608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43600" y="13350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called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31152" y="13350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2,733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699248" y="13350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412480" y="13350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897880" y="182880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943600" y="19933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reached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931152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699248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412480" y="1993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897880" y="2487168"/>
            <a:ext cx="292608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943600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earned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6931152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$144,600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699248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$130,200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412480" y="26517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897880" y="3145536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943600" y="3310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cost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931152" y="3310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$54,660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699248" y="3310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$30,460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412480" y="33101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897880" y="3803904"/>
            <a:ext cx="29260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943600" y="3968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6931152" y="3968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$89,940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699248" y="3968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$99,740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412480" y="39684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0"/>
            <a:ext cx="914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840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Takeaways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8686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ACCOUNT MANAGERS · BRAND TEAMS · CAMPAIGN PLANNERS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3017520" cy="162763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3017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0352" y="1444752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813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4630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customer is worth the same call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0352" y="2011680"/>
            <a:ext cx="2706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model lets you concentrate sales effort where the expected return justifies the cost — before you pick up the phone.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566160" y="1261872"/>
            <a:ext cx="3017520" cy="162763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566160" y="1261872"/>
            <a:ext cx="3017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730752" y="1444752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14813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79392" y="14630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calls, more profit — that's the counterintuitive win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730752" y="2011680"/>
            <a:ext cx="2706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call volume by 44% while growing profit by 11% proves that activity and effectiveness are not the same thing.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5760" y="3017520"/>
            <a:ext cx="3017520" cy="162763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65760" y="3017520"/>
            <a:ext cx="3017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30352" y="3200400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23697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32186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context predicts willingness to commit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30352" y="3767328"/>
            <a:ext cx="2706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price index and employment variation rate were top drivers — external signals matter as much as demographics.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566160" y="3017520"/>
            <a:ext cx="3017520" cy="162763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566160" y="3017520"/>
            <a:ext cx="3017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730752" y="3200400"/>
            <a:ext cx="438912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3236976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79392" y="32186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campaign success is your strongest predictor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3730752" y="3767328"/>
            <a:ext cx="2706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subscribed before are far more likely to subscribe again. Past behaviour is the most reliable signal.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949440" y="731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C97E"/>
                </a:solidFill>
                <a:latin typeface="Georgia" pitchFamily="34" charset="0"/>
              </a:rPr>
              <a:t>THE</a:t>
            </a:r>
            <a:endParaRPr lang="en-US" sz="800" b="1" kern="0" spc="300" dirty="0">
              <a:solidFill>
                <a:srgbClr val="E8C97E"/>
              </a:solidFill>
              <a:latin typeface="Georgia" pitchFamily="34" charset="0"/>
            </a:endParaRPr>
          </a:p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C97E"/>
                </a:solidFill>
                <a:latin typeface="Georgia" pitchFamily="34" charset="0"/>
              </a:rPr>
              <a:t>NUMBERS</a:t>
            </a:r>
            <a:endParaRPr lang="en-US" sz="800" b="1" kern="0" spc="300" dirty="0">
              <a:solidFill>
                <a:srgbClr val="E8C97E"/>
              </a:solidFill>
              <a:latin typeface="Georgia" pitchFamily="34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694944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+11%</a:t>
            </a:r>
            <a:endParaRPr lang="en-US" sz="2800" dirty="0"/>
          </a:p>
        </p:txBody>
      </p:sp>
      <p:sp>
        <p:nvSpPr>
          <p:cNvPr id="34" name="Text 27"/>
          <p:cNvSpPr/>
          <p:nvPr/>
        </p:nvSpPr>
        <p:spPr>
          <a:xfrm>
            <a:off x="6949440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gain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94944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−44%</a:t>
            </a:r>
            <a:endParaRPr lang="en-US" sz="2800" dirty="0"/>
          </a:p>
        </p:txBody>
      </p:sp>
      <p:sp>
        <p:nvSpPr>
          <p:cNvPr id="36" name="Text 29"/>
          <p:cNvSpPr/>
          <p:nvPr/>
        </p:nvSpPr>
        <p:spPr>
          <a:xfrm>
            <a:off x="694944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calls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694944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800" dirty="0"/>
          </a:p>
        </p:txBody>
      </p:sp>
      <p:sp>
        <p:nvSpPr>
          <p:cNvPr id="38" name="Text 31"/>
          <p:cNvSpPr/>
          <p:nvPr/>
        </p:nvSpPr>
        <p:spPr>
          <a:xfrm>
            <a:off x="694944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6888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0332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0664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41080" y="0"/>
            <a:ext cx="822960" cy="5143500"/>
          </a:xfrm>
          <a:prstGeom prst="rect">
            <a:avLst/>
          </a:prstGeom>
          <a:solidFill>
            <a:srgbClr val="243557">
              <a:alpha val="25000"/>
            </a:srgbClr>
          </a:solidFill>
          <a:ln w="12700">
            <a:solidFill>
              <a:srgbClr val="2435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5029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doesn't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the call.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 every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count.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97280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$9,800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profit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calls avoided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4462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subscribers reached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  · Purdue University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1050</Words>
  <Application>Microsoft Macintosh PowerPoint</Application>
  <PresentationFormat>On-screen Show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Smarter Calling — Predictive Targeting for Bank Telemarketing</dc:title>
  <dc:subject>PptxGenJS Presentation</dc:subject>
  <dc:creator>PptxGenJS</dc:creator>
  <cp:lastModifiedBy>Sana Majeed</cp:lastModifiedBy>
  <cp:revision>2</cp:revision>
  <dcterms:created xsi:type="dcterms:W3CDTF">2026-03-28T21:16:02Z</dcterms:created>
  <dcterms:modified xsi:type="dcterms:W3CDTF">2026-03-28T21:18:35Z</dcterms:modified>
</cp:coreProperties>
</file>